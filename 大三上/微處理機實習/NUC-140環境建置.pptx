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71" r:id="rId4"/>
    <p:sldId id="267" r:id="rId5"/>
    <p:sldId id="258" r:id="rId6"/>
    <p:sldId id="259" r:id="rId7"/>
    <p:sldId id="260" r:id="rId8"/>
    <p:sldId id="272" r:id="rId9"/>
    <p:sldId id="273" r:id="rId10"/>
    <p:sldId id="268" r:id="rId11"/>
    <p:sldId id="269" r:id="rId12"/>
    <p:sldId id="270" r:id="rId13"/>
    <p:sldId id="262" r:id="rId14"/>
    <p:sldId id="263" r:id="rId15"/>
    <p:sldId id="264" r:id="rId16"/>
    <p:sldId id="261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005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32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315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91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75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90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949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367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5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57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63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349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urceforge.net/projects/numicroedu/files/NuMaker%20TRIO/" TargetMode="External"/><Relationship Id="rId2" Type="http://schemas.openxmlformats.org/officeDocument/2006/relationships/hyperlink" Target="https://sourceforge.net/projects/numicroedu/files/Tool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www.keil.com/demo/eval/arm.ht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nuvoton.com/tool-and-software/ide-and-compiler/?__locale=zh_TW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support.arm.com/downloads/view/ACOMP5?sortBy=availableBy&amp;revision=r5p6-07rel1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D70E5A1-633B-A7C7-EBA2-8BD05191B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US" altLang="zh-TW" dirty="0"/>
              <a:t>NUC-140</a:t>
            </a:r>
            <a:r>
              <a:rPr lang="zh-TW" altLang="en-US" dirty="0"/>
              <a:t>環境建置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27368C0-961E-B23C-AA77-BD64ED0EE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4552" y="4742901"/>
            <a:ext cx="5322013" cy="1005657"/>
          </a:xfrm>
        </p:spPr>
        <p:txBody>
          <a:bodyPr>
            <a:normAutofit/>
          </a:bodyPr>
          <a:lstStyle/>
          <a:p>
            <a:r>
              <a:rPr lang="zh-TW" altLang="en-US" dirty="0"/>
              <a:t>作者 </a:t>
            </a:r>
            <a:r>
              <a:rPr lang="en-US" altLang="zh-TW" dirty="0"/>
              <a:t>:</a:t>
            </a:r>
            <a:r>
              <a:rPr lang="zh-TW" altLang="en-US" dirty="0"/>
              <a:t> 張靜維</a:t>
            </a:r>
            <a:endParaRPr lang="en-US" altLang="zh-TW" dirty="0"/>
          </a:p>
          <a:p>
            <a:r>
              <a:rPr lang="en-US" altLang="zh-TW" dirty="0"/>
              <a:t>Date : 2026/8/27</a:t>
            </a:r>
            <a:endParaRPr lang="zh-TW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C33AB0-EB7F-A1CC-064B-ED78331754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72" r="19117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560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F93C48-7C2F-CA18-1D0D-AFDF071B5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下載</a:t>
            </a:r>
            <a:r>
              <a:rPr lang="en-US" altLang="zh-TW" dirty="0"/>
              <a:t>ide</a:t>
            </a:r>
            <a:endParaRPr lang="zh-TW" altLang="en-US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E142B2-7E3D-1F83-A1BA-B072E4AD69FB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700635" y="1697003"/>
            <a:ext cx="10970255" cy="3739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Times New Roman" panose="02020603050405020304" pitchFamily="18" charset="0"/>
              <a:buChar char="►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>
              <a:buClr>
                <a:schemeClr val="accent1"/>
              </a:buClr>
              <a:buSzPct val="80000"/>
              <a:buFontTx/>
              <a:buNone/>
              <a:defRPr/>
            </a:pPr>
            <a:r>
              <a:rPr lang="en-US" altLang="zh-TW" sz="2400" dirty="0">
                <a:hlinkClick r:id="rId2" tooltip="Click to enter Tools"/>
              </a:rPr>
              <a:t>Tools</a:t>
            </a:r>
            <a:r>
              <a:rPr lang="en-US" altLang="zh-TW" sz="2400" dirty="0"/>
              <a:t> (</a:t>
            </a:r>
            <a:r>
              <a:rPr lang="en-US" altLang="zh-TW" sz="2400" dirty="0" err="1"/>
              <a:t>Keil</a:t>
            </a:r>
            <a:r>
              <a:rPr lang="en-US" altLang="zh-TW" sz="2400" dirty="0"/>
              <a:t> MDK, Nu-Link USB Driver, </a:t>
            </a:r>
            <a:r>
              <a:rPr lang="en-US" altLang="zh-TW" sz="2400" dirty="0" err="1"/>
              <a:t>NuMicro</a:t>
            </a:r>
            <a:r>
              <a:rPr lang="en-US" altLang="zh-TW" sz="2400" dirty="0"/>
              <a:t> BSP)</a:t>
            </a:r>
            <a:endParaRPr lang="en-US" altLang="zh-TW" sz="2400" dirty="0">
              <a:hlinkClick r:id="rId3"/>
            </a:endParaRPr>
          </a:p>
          <a:p>
            <a:pPr marL="342900" lvl="1" indent="-342900"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altLang="zh-TW" sz="2400" b="1" dirty="0"/>
              <a:t>IDE</a:t>
            </a:r>
            <a:r>
              <a:rPr lang="en-US" altLang="zh-TW" sz="2400" b="1" dirty="0">
                <a:solidFill>
                  <a:srgbClr val="0000FF"/>
                </a:solidFill>
              </a:rPr>
              <a:t> </a:t>
            </a:r>
            <a:r>
              <a:rPr lang="en-US" altLang="zh-TW" sz="2400" dirty="0"/>
              <a:t>: </a:t>
            </a:r>
            <a:r>
              <a:rPr lang="en-US" altLang="zh-TW" sz="2400" b="1" dirty="0"/>
              <a:t>ARM </a:t>
            </a:r>
            <a:r>
              <a:rPr lang="en-US" altLang="zh-TW" sz="2400" b="1" dirty="0" err="1"/>
              <a:t>Keil</a:t>
            </a:r>
            <a:r>
              <a:rPr lang="en-US" altLang="zh-TW" sz="2400" b="1" dirty="0"/>
              <a:t> MDK </a:t>
            </a:r>
            <a:r>
              <a:rPr lang="en-US" altLang="zh-TW" sz="2000" i="1" dirty="0">
                <a:solidFill>
                  <a:srgbClr val="C00000"/>
                </a:solidFill>
                <a:hlinkClick r:id="rId4"/>
              </a:rPr>
              <a:t>https://www.keil.com/demo/eval/arm.htm</a:t>
            </a:r>
            <a:endParaRPr lang="en-US" altLang="zh-TW" sz="2000" dirty="0"/>
          </a:p>
          <a:p>
            <a:pPr marL="742950" lvl="2" indent="-342900"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altLang="zh-TW" sz="2000" dirty="0"/>
              <a:t>MDK543a.exe</a:t>
            </a:r>
          </a:p>
          <a:p>
            <a:pPr marL="742950" lvl="2" indent="-342900"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TW" altLang="en-US" sz="2000" dirty="0"/>
              <a:t>安裝完畢之後只有 </a:t>
            </a:r>
            <a:r>
              <a:rPr lang="en-US" altLang="zh-TW" sz="2000" b="1" dirty="0"/>
              <a:t>ARM Compiler v6</a:t>
            </a:r>
            <a:r>
              <a:rPr lang="zh-TW" altLang="en-US" sz="2000" b="1" dirty="0"/>
              <a:t>，所以需要額外下載 </a:t>
            </a:r>
            <a:r>
              <a:rPr lang="en-US" altLang="zh-TW" sz="2000" b="1" dirty="0"/>
              <a:t>Compiler v5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C3AF659-D9FF-7D01-BF5D-8903B4954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5838" y="3683687"/>
            <a:ext cx="9251496" cy="2372983"/>
          </a:xfrm>
          <a:prstGeom prst="rect">
            <a:avLst/>
          </a:prstGeom>
        </p:spPr>
      </p:pic>
      <p:sp>
        <p:nvSpPr>
          <p:cNvPr id="7" name="框架 6">
            <a:extLst>
              <a:ext uri="{FF2B5EF4-FFF2-40B4-BE49-F238E27FC236}">
                <a16:creationId xmlns:a16="http://schemas.microsoft.com/office/drawing/2014/main" id="{FDBB4037-520D-20CF-43E6-716853C76ABE}"/>
              </a:ext>
            </a:extLst>
          </p:cNvPr>
          <p:cNvSpPr/>
          <p:nvPr/>
        </p:nvSpPr>
        <p:spPr>
          <a:xfrm>
            <a:off x="2930696" y="5407389"/>
            <a:ext cx="2083756" cy="296319"/>
          </a:xfrm>
          <a:prstGeom prst="fram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321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10C643-C8C7-C839-EAE8-196917BD9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473" y="981012"/>
            <a:ext cx="11157069" cy="517398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  <a:defRPr/>
            </a:pPr>
            <a:r>
              <a:rPr lang="da-DK" altLang="zh-TW" sz="2400" b="1" dirty="0"/>
              <a:t>ICE : NuLink Driver</a:t>
            </a:r>
            <a:r>
              <a:rPr lang="zh-TW" altLang="en-US" sz="2400" b="1" dirty="0"/>
              <a:t> </a:t>
            </a:r>
            <a:r>
              <a:rPr lang="en-US" altLang="zh-TW" sz="2400" i="1" dirty="0">
                <a:solidFill>
                  <a:srgbClr val="C00000"/>
                </a:solidFill>
                <a:hlinkClick r:id="rId2"/>
              </a:rPr>
              <a:t> </a:t>
            </a:r>
            <a:r>
              <a:rPr lang="en-US" altLang="zh-TW" sz="1800" i="1" dirty="0">
                <a:solidFill>
                  <a:srgbClr val="C00000"/>
                </a:solidFill>
                <a:hlinkClick r:id="rId2"/>
              </a:rPr>
              <a:t>https://www.nuvoton.com/tool-and-software/ide-and-compiler/?__locale=zh_TW</a:t>
            </a:r>
            <a:endParaRPr lang="da-DK" altLang="zh-TW" sz="1800" i="1" dirty="0">
              <a:solidFill>
                <a:srgbClr val="C00000"/>
              </a:solidFill>
            </a:endParaRP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zh-TW" altLang="zh-TW" sz="2000" dirty="0"/>
              <a:t>Nu-Link Keil Driver V3.23.7973r</a:t>
            </a:r>
            <a:r>
              <a:rPr lang="zh-TW" altLang="en-US" sz="2000" dirty="0"/>
              <a:t>  </a:t>
            </a:r>
            <a:r>
              <a:rPr lang="en-US" altLang="zh-TW" sz="2000" dirty="0"/>
              <a:t>( IDE</a:t>
            </a:r>
            <a:r>
              <a:rPr lang="zh-TW" altLang="en-US" sz="2000" dirty="0"/>
              <a:t>通常下載完會有驅動程式，如果無法燒錄再重新安裝這個最新版</a:t>
            </a:r>
            <a:r>
              <a:rPr lang="en-US" altLang="zh-TW" sz="2000" dirty="0"/>
              <a:t>)</a:t>
            </a:r>
            <a:br>
              <a:rPr lang="en-US" altLang="zh-TW" sz="2000" dirty="0"/>
            </a:br>
            <a:br>
              <a:rPr lang="en-US" altLang="zh-TW" sz="2000" dirty="0"/>
            </a:br>
            <a:r>
              <a:rPr lang="zh-TW" altLang="en-US" sz="2000" dirty="0">
                <a:solidFill>
                  <a:srgbClr val="FF0000"/>
                </a:solidFill>
              </a:rPr>
              <a:t>* </a:t>
            </a:r>
            <a:r>
              <a:rPr lang="en-US" altLang="zh-TW" sz="2000" dirty="0">
                <a:solidFill>
                  <a:srgbClr val="FF0000"/>
                </a:solidFill>
              </a:rPr>
              <a:t>IDE</a:t>
            </a:r>
            <a:r>
              <a:rPr lang="zh-TW" altLang="en-US" sz="2000" dirty="0">
                <a:solidFill>
                  <a:srgbClr val="FF0000"/>
                </a:solidFill>
              </a:rPr>
              <a:t> 先下載完再下載 </a:t>
            </a:r>
            <a:r>
              <a:rPr lang="en-US" altLang="zh-TW" sz="2000" dirty="0">
                <a:solidFill>
                  <a:srgbClr val="FF0000"/>
                </a:solidFill>
              </a:rPr>
              <a:t>Driver</a:t>
            </a:r>
            <a:r>
              <a:rPr lang="zh-TW" altLang="en-US" sz="2000" dirty="0">
                <a:solidFill>
                  <a:srgbClr val="FF0000"/>
                </a:solidFill>
              </a:rPr>
              <a:t>，否則新的 </a:t>
            </a:r>
            <a:r>
              <a:rPr lang="en-US" altLang="zh-TW" sz="2000" dirty="0">
                <a:solidFill>
                  <a:srgbClr val="FF0000"/>
                </a:solidFill>
              </a:rPr>
              <a:t>Driver</a:t>
            </a:r>
            <a:r>
              <a:rPr lang="zh-TW" altLang="en-US" sz="2000" dirty="0">
                <a:solidFill>
                  <a:srgbClr val="FF0000"/>
                </a:solidFill>
              </a:rPr>
              <a:t> 可能會在下載 </a:t>
            </a:r>
            <a:r>
              <a:rPr lang="en-US" altLang="zh-TW" sz="2000" dirty="0">
                <a:solidFill>
                  <a:srgbClr val="FF0000"/>
                </a:solidFill>
              </a:rPr>
              <a:t>IDE</a:t>
            </a:r>
            <a:r>
              <a:rPr lang="zh-TW" altLang="en-US" sz="2000" dirty="0">
                <a:solidFill>
                  <a:srgbClr val="FF0000"/>
                </a:solidFill>
              </a:rPr>
              <a:t> 時被舊的覆蓋</a:t>
            </a:r>
            <a:br>
              <a:rPr lang="en-US" altLang="zh-TW" sz="2000" dirty="0">
                <a:solidFill>
                  <a:srgbClr val="FF0000"/>
                </a:solidFill>
              </a:rPr>
            </a:br>
            <a:br>
              <a:rPr lang="en-US" altLang="zh-TW" sz="2000" dirty="0">
                <a:solidFill>
                  <a:srgbClr val="FF0000"/>
                </a:solidFill>
              </a:rPr>
            </a:br>
            <a:br>
              <a:rPr lang="en-US" altLang="zh-TW" sz="2000" dirty="0"/>
            </a:br>
            <a:br>
              <a:rPr lang="en-US" altLang="zh-TW" sz="2000" dirty="0"/>
            </a:br>
            <a:br>
              <a:rPr lang="en-US" altLang="zh-TW" sz="2000" dirty="0"/>
            </a:br>
            <a:br>
              <a:rPr lang="en-US" altLang="zh-TW" sz="2000" dirty="0"/>
            </a:br>
            <a:br>
              <a:rPr lang="en-US" altLang="zh-TW" sz="2000" dirty="0"/>
            </a:br>
            <a:br>
              <a:rPr lang="en-US" altLang="zh-TW" sz="2000" dirty="0"/>
            </a:b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063B516-C6A9-A02C-C4B8-3AF82A44D3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791"/>
          <a:stretch>
            <a:fillRect/>
          </a:stretch>
        </p:blipFill>
        <p:spPr>
          <a:xfrm>
            <a:off x="1631656" y="3049450"/>
            <a:ext cx="9196701" cy="3032807"/>
          </a:xfrm>
          <a:prstGeom prst="rect">
            <a:avLst/>
          </a:prstGeom>
        </p:spPr>
      </p:pic>
      <p:sp>
        <p:nvSpPr>
          <p:cNvPr id="9" name="框架 8">
            <a:extLst>
              <a:ext uri="{FF2B5EF4-FFF2-40B4-BE49-F238E27FC236}">
                <a16:creationId xmlns:a16="http://schemas.microsoft.com/office/drawing/2014/main" id="{3072AFAE-AFF3-7DA2-6E8B-B6E5A6B16871}"/>
              </a:ext>
            </a:extLst>
          </p:cNvPr>
          <p:cNvSpPr/>
          <p:nvPr/>
        </p:nvSpPr>
        <p:spPr>
          <a:xfrm>
            <a:off x="1884566" y="3849550"/>
            <a:ext cx="2770562" cy="369158"/>
          </a:xfrm>
          <a:prstGeom prst="fram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689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60A66B-3409-5DF2-CBE6-8A7B2A252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07" y="507343"/>
            <a:ext cx="11009584" cy="4324430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  <a:defRPr/>
            </a:pPr>
            <a:endParaRPr lang="en-US" altLang="zh-TW" sz="2000" i="1" dirty="0">
              <a:solidFill>
                <a:srgbClr val="C00000"/>
              </a:solidFill>
            </a:endParaRPr>
          </a:p>
          <a:p>
            <a:pPr marL="342900" lvl="1" indent="-342900"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altLang="zh-TW" sz="2400" b="1" dirty="0"/>
              <a:t>BSP</a:t>
            </a:r>
            <a:r>
              <a:rPr lang="en-US" altLang="zh-TW" sz="2400" dirty="0"/>
              <a:t> : MCU device driver &amp; sample code</a:t>
            </a:r>
          </a:p>
          <a:p>
            <a:pPr lvl="1">
              <a:buFont typeface="Wingdings" panose="05000000000000000000" pitchFamily="2" charset="2"/>
              <a:buChar char="Ø"/>
              <a:defRPr/>
            </a:pPr>
            <a:r>
              <a:rPr lang="en-US" altLang="zh-TW" sz="2000" u="sng" dirty="0"/>
              <a:t>Nu-LB-NUC140_BSP3.00.004_v1.4.5</a:t>
            </a:r>
            <a:r>
              <a:rPr lang="en-US" altLang="zh-TW" sz="2000" dirty="0"/>
              <a:t> </a:t>
            </a:r>
            <a:r>
              <a:rPr lang="zh-TW" altLang="en-US" sz="2000" dirty="0"/>
              <a:t>  </a:t>
            </a:r>
            <a:r>
              <a:rPr lang="en-US" altLang="zh-TW" sz="2000" dirty="0"/>
              <a:t>(</a:t>
            </a:r>
            <a:r>
              <a:rPr lang="zh-TW" altLang="en-US" sz="2000" dirty="0"/>
              <a:t>裝置驅動</a:t>
            </a:r>
            <a:r>
              <a:rPr lang="en-US" altLang="zh-TW" sz="2000" dirty="0"/>
              <a:t>+</a:t>
            </a:r>
            <a:r>
              <a:rPr lang="zh-TW" altLang="en-US" sz="2000" dirty="0"/>
              <a:t>範例程式碼資料夾</a:t>
            </a:r>
            <a:r>
              <a:rPr lang="en-US" altLang="zh-TW" sz="2000" dirty="0"/>
              <a:t>)</a:t>
            </a:r>
            <a:br>
              <a:rPr lang="en-US" altLang="zh-TW" sz="2000" dirty="0"/>
            </a:br>
            <a:endParaRPr lang="en-US" altLang="zh-TW" sz="2000" i="1" dirty="0">
              <a:solidFill>
                <a:srgbClr val="C00000"/>
              </a:solidFill>
            </a:endParaRPr>
          </a:p>
          <a:p>
            <a:pPr marL="342900" lvl="1" indent="-342900"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TW" altLang="en-US" sz="2400" b="1" dirty="0"/>
              <a:t>下載 </a:t>
            </a:r>
            <a:r>
              <a:rPr lang="en-US" altLang="zh-TW" sz="2400" b="1" dirty="0"/>
              <a:t>ARM Compiler v5 :</a:t>
            </a:r>
            <a:r>
              <a:rPr lang="en-US" altLang="zh-TW" sz="2000" u="sng" dirty="0"/>
              <a:t> </a:t>
            </a:r>
            <a:endParaRPr lang="en-US" altLang="zh-TW" dirty="0"/>
          </a:p>
          <a:p>
            <a:r>
              <a:rPr lang="zh-TW" altLang="en-US" dirty="0"/>
              <a:t>舊專案預設使用</a:t>
            </a:r>
            <a:r>
              <a:rPr lang="en-US" altLang="zh-TW" dirty="0"/>
              <a:t>Compiler v5</a:t>
            </a:r>
            <a:r>
              <a:rPr lang="zh-TW" altLang="en-US" dirty="0"/>
              <a:t>，而新的 </a:t>
            </a:r>
            <a:r>
              <a:rPr lang="en-US" altLang="zh-TW" dirty="0"/>
              <a:t>IDE</a:t>
            </a:r>
            <a:r>
              <a:rPr lang="zh-TW" altLang="en-US" dirty="0"/>
              <a:t> 只有 </a:t>
            </a:r>
            <a:r>
              <a:rPr lang="en-US" altLang="zh-TW" dirty="0"/>
              <a:t>v6 (</a:t>
            </a:r>
            <a:r>
              <a:rPr lang="zh-TW" altLang="en-US" dirty="0"/>
              <a:t>有些程式碼 </a:t>
            </a:r>
            <a:r>
              <a:rPr lang="en-US" altLang="zh-TW" dirty="0"/>
              <a:t>v6</a:t>
            </a:r>
            <a:r>
              <a:rPr lang="zh-TW" altLang="en-US" dirty="0"/>
              <a:t> 無法編譯，因此建議使用</a:t>
            </a:r>
            <a:r>
              <a:rPr lang="en-US" altLang="zh-TW" dirty="0"/>
              <a:t>v5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，可以登入註冊之後下載 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kumimoji="1" lang="en-US" altLang="zh-TW" sz="1800" i="1" dirty="0">
                <a:solidFill>
                  <a:srgbClr val="C00000"/>
                </a:solidFill>
                <a:hlinkClick r:id="rId2"/>
              </a:rPr>
              <a:t>https://support.arm.com/downloads/view/ACOMP5?sortBy=availableBy&amp;revision=r5p6-07rel1</a:t>
            </a:r>
            <a:endParaRPr kumimoji="1" lang="en-US" altLang="zh-TW" sz="1800" i="1" dirty="0">
              <a:solidFill>
                <a:srgbClr val="C00000"/>
              </a:solidFill>
            </a:endParaRPr>
          </a:p>
          <a:p>
            <a:r>
              <a:rPr lang="zh-TW" altLang="en-US" dirty="0"/>
              <a:t>下載的 </a:t>
            </a:r>
            <a:r>
              <a:rPr lang="en-US" altLang="zh-TW" dirty="0"/>
              <a:t>Compiler v5</a:t>
            </a:r>
            <a:r>
              <a:rPr lang="zh-TW" altLang="en-US" dirty="0"/>
              <a:t> 務必在 </a:t>
            </a:r>
            <a:r>
              <a:rPr lang="en-US" altLang="zh-TW" dirty="0"/>
              <a:t>Keil IDE</a:t>
            </a:r>
            <a:r>
              <a:rPr lang="zh-TW" altLang="en-US" dirty="0"/>
              <a:t> 所在資料夾裡面，也就是 </a:t>
            </a:r>
            <a:r>
              <a:rPr lang="en-US" altLang="zh-TW" b="1" dirty="0"/>
              <a:t>Keil_v5</a:t>
            </a:r>
            <a:r>
              <a:rPr lang="zh-TW" altLang="en-US" dirty="0"/>
              <a:t>。</a:t>
            </a:r>
            <a:br>
              <a:rPr lang="en-US" altLang="zh-TW" dirty="0"/>
            </a:br>
            <a:r>
              <a:rPr lang="zh-TW" altLang="en-US" dirty="0">
                <a:solidFill>
                  <a:srgbClr val="FF0000"/>
                </a:solidFill>
              </a:rPr>
              <a:t>並下載在已經存在的 </a:t>
            </a:r>
            <a:r>
              <a:rPr lang="en-US" altLang="zh-TW" dirty="0">
                <a:solidFill>
                  <a:srgbClr val="FF0000"/>
                </a:solidFill>
              </a:rPr>
              <a:t>ARMCLANG</a:t>
            </a:r>
            <a:r>
              <a:rPr lang="zh-TW" altLang="en-US" dirty="0">
                <a:solidFill>
                  <a:srgbClr val="FF0000"/>
                </a:solidFill>
              </a:rPr>
              <a:t>  也就是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Compiler v6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) </a:t>
            </a:r>
            <a:r>
              <a:rPr lang="zh-TW" altLang="en-US" dirty="0">
                <a:solidFill>
                  <a:srgbClr val="FF0000"/>
                </a:solidFill>
              </a:rPr>
              <a:t>的同一層，否則下載的編譯器即便能識別到，也會出現授權問題無法使用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FCAC988-98D0-DD2D-9602-04CDCE39E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120" y="5002986"/>
            <a:ext cx="6941760" cy="1613529"/>
          </a:xfrm>
          <a:prstGeom prst="rect">
            <a:avLst/>
          </a:prstGeom>
        </p:spPr>
      </p:pic>
      <p:sp>
        <p:nvSpPr>
          <p:cNvPr id="8" name="框架 7">
            <a:extLst>
              <a:ext uri="{FF2B5EF4-FFF2-40B4-BE49-F238E27FC236}">
                <a16:creationId xmlns:a16="http://schemas.microsoft.com/office/drawing/2014/main" id="{39B7C7EA-C192-D841-4B96-61452E6444B4}"/>
              </a:ext>
            </a:extLst>
          </p:cNvPr>
          <p:cNvSpPr/>
          <p:nvPr/>
        </p:nvSpPr>
        <p:spPr>
          <a:xfrm>
            <a:off x="7900902" y="5002986"/>
            <a:ext cx="1771655" cy="335152"/>
          </a:xfrm>
          <a:prstGeom prst="fram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190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2CA424-5383-BC76-0B95-95D0467D5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進入</a:t>
            </a:r>
            <a:r>
              <a:rPr lang="en-US" altLang="zh-TW" dirty="0"/>
              <a:t>IDE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43133D-1666-3B71-22D6-788F3B3CA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 </a:t>
            </a:r>
            <a:r>
              <a:rPr lang="en-US" altLang="zh-TW" dirty="0"/>
              <a:t>BSP</a:t>
            </a:r>
            <a:r>
              <a:rPr lang="zh-TW" altLang="en-US" dirty="0"/>
              <a:t> 裡面的 </a:t>
            </a:r>
            <a:r>
              <a:rPr lang="en-US" altLang="zh-TW" dirty="0"/>
              <a:t>sample code</a:t>
            </a:r>
            <a:r>
              <a:rPr lang="zh-TW" altLang="en-US" dirty="0"/>
              <a:t> 挑一個專案出來測試 </a:t>
            </a:r>
            <a:r>
              <a:rPr lang="en-US" altLang="zh-TW" dirty="0"/>
              <a:t>(</a:t>
            </a:r>
            <a:r>
              <a:rPr lang="zh-TW" altLang="en-US" dirty="0"/>
              <a:t> 建議</a:t>
            </a:r>
            <a:r>
              <a:rPr lang="en-US" altLang="zh-TW" dirty="0"/>
              <a:t>GPIO_LED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GPIO_7seg</a:t>
            </a:r>
            <a:r>
              <a:rPr lang="zh-TW" altLang="en-US" dirty="0">
                <a:solidFill>
                  <a:srgbClr val="FF0000"/>
                </a:solidFill>
              </a:rPr>
              <a:t>不要用 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br>
              <a:rPr lang="en-US" altLang="zh-TW" dirty="0">
                <a:solidFill>
                  <a:srgbClr val="FF0000"/>
                </a:solidFill>
              </a:rPr>
            </a:br>
            <a:r>
              <a:rPr lang="en-US" altLang="zh-TW" dirty="0"/>
              <a:t>-&gt; Nu-LB-NUC140_BSP3.00.004_v1.4.5\SampleCode\Nu-LB-NUC140</a:t>
            </a:r>
          </a:p>
          <a:p>
            <a:r>
              <a:rPr lang="zh-TW" altLang="en-US" dirty="0"/>
              <a:t>進入專案裡面的</a:t>
            </a:r>
            <a:r>
              <a:rPr lang="en-US" altLang="zh-TW" dirty="0"/>
              <a:t>KEIL</a:t>
            </a:r>
            <a:r>
              <a:rPr lang="zh-TW" altLang="en-US" dirty="0"/>
              <a:t>資料夾，雙擊</a:t>
            </a:r>
            <a:r>
              <a:rPr lang="en-US" altLang="zh-TW" dirty="0"/>
              <a:t>.</a:t>
            </a:r>
            <a:r>
              <a:rPr lang="en-US" altLang="zh-TW" dirty="0" err="1"/>
              <a:t>uvprogj</a:t>
            </a:r>
            <a:r>
              <a:rPr lang="zh-TW" altLang="en-US" dirty="0"/>
              <a:t>檔案，直接進入</a:t>
            </a:r>
            <a:r>
              <a:rPr lang="en-US" altLang="zh-TW" dirty="0"/>
              <a:t>KEIL IDE</a:t>
            </a:r>
            <a:r>
              <a:rPr lang="zh-TW" altLang="en-US" dirty="0"/>
              <a:t>介面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979DDC0-E372-A4DC-EF8F-C700628F7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600" y="3641501"/>
            <a:ext cx="6744246" cy="2406336"/>
          </a:xfrm>
          <a:prstGeom prst="rect">
            <a:avLst/>
          </a:prstGeom>
        </p:spPr>
      </p:pic>
      <p:sp>
        <p:nvSpPr>
          <p:cNvPr id="6" name="框架 5">
            <a:extLst>
              <a:ext uri="{FF2B5EF4-FFF2-40B4-BE49-F238E27FC236}">
                <a16:creationId xmlns:a16="http://schemas.microsoft.com/office/drawing/2014/main" id="{1165D8B4-5290-0B26-20EC-78FD5EF92EE4}"/>
              </a:ext>
            </a:extLst>
          </p:cNvPr>
          <p:cNvSpPr/>
          <p:nvPr/>
        </p:nvSpPr>
        <p:spPr>
          <a:xfrm>
            <a:off x="2163780" y="5751518"/>
            <a:ext cx="2083756" cy="296319"/>
          </a:xfrm>
          <a:prstGeom prst="fram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7" name="框架 6">
            <a:extLst>
              <a:ext uri="{FF2B5EF4-FFF2-40B4-BE49-F238E27FC236}">
                <a16:creationId xmlns:a16="http://schemas.microsoft.com/office/drawing/2014/main" id="{C4C492D0-D578-88E9-DEC3-4D9D6A3695C5}"/>
              </a:ext>
            </a:extLst>
          </p:cNvPr>
          <p:cNvSpPr/>
          <p:nvPr/>
        </p:nvSpPr>
        <p:spPr>
          <a:xfrm>
            <a:off x="3386444" y="3529585"/>
            <a:ext cx="4053447" cy="408570"/>
          </a:xfrm>
          <a:prstGeom prst="frame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189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CBE9C8-10D2-60E8-4330-01CCAEC45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Ide</a:t>
            </a:r>
            <a:r>
              <a:rPr lang="zh-TW" altLang="en-US" dirty="0"/>
              <a:t>介面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F6E3A-07DC-07A5-D8FE-716072B19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6" y="2221992"/>
            <a:ext cx="3822204" cy="3739896"/>
          </a:xfrm>
        </p:spPr>
        <p:txBody>
          <a:bodyPr/>
          <a:lstStyle/>
          <a:p>
            <a:pPr marL="0" indent="0">
              <a:buNone/>
            </a:pPr>
            <a:r>
              <a:rPr lang="zh-TW" altLang="en-US" b="1" dirty="0"/>
              <a:t>執行流程 </a:t>
            </a:r>
            <a:r>
              <a:rPr lang="en-US" altLang="zh-TW" b="1" dirty="0"/>
              <a:t>:</a:t>
            </a:r>
            <a:r>
              <a:rPr lang="zh-TW" altLang="en-US" b="1" dirty="0"/>
              <a:t> </a:t>
            </a:r>
            <a:endParaRPr lang="en-US" altLang="zh-TW" b="1" dirty="0"/>
          </a:p>
          <a:p>
            <a:r>
              <a:rPr lang="zh-TW" altLang="en-US" dirty="0"/>
              <a:t>點開專案中的 </a:t>
            </a:r>
            <a:r>
              <a:rPr lang="en-US" altLang="zh-TW" i="1" dirty="0" err="1">
                <a:solidFill>
                  <a:srgbClr val="0070C0"/>
                </a:solidFill>
              </a:rPr>
              <a:t>main.c</a:t>
            </a:r>
            <a:endParaRPr lang="en-US" altLang="zh-TW" i="1" dirty="0">
              <a:solidFill>
                <a:srgbClr val="0070C0"/>
              </a:solidFill>
            </a:endParaRPr>
          </a:p>
          <a:p>
            <a:r>
              <a:rPr lang="zh-TW" altLang="en-US" dirty="0"/>
              <a:t>編譯專案 </a:t>
            </a:r>
            <a:r>
              <a:rPr lang="en-US" altLang="zh-TW" dirty="0"/>
              <a:t>:</a:t>
            </a:r>
            <a:r>
              <a:rPr lang="zh-TW" altLang="en-US" dirty="0"/>
              <a:t> 按 </a:t>
            </a:r>
            <a:r>
              <a:rPr lang="en-US" altLang="zh-TW" i="1" dirty="0">
                <a:solidFill>
                  <a:srgbClr val="0070C0"/>
                </a:solidFill>
              </a:rPr>
              <a:t>rebuild</a:t>
            </a:r>
            <a:br>
              <a:rPr lang="en-US" altLang="zh-TW" dirty="0"/>
            </a:br>
            <a:r>
              <a:rPr lang="en-US" altLang="zh-TW" dirty="0"/>
              <a:t>(</a:t>
            </a:r>
            <a:r>
              <a:rPr lang="zh-TW" altLang="en-US" dirty="0"/>
              <a:t>如果編譯沒有過，可能是主程式文法有錯，或是環境問題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燒錄到板子 </a:t>
            </a:r>
            <a:r>
              <a:rPr lang="en-US" altLang="zh-TW" dirty="0"/>
              <a:t>:</a:t>
            </a:r>
            <a:r>
              <a:rPr lang="zh-TW" altLang="en-US" dirty="0"/>
              <a:t> 按 </a:t>
            </a:r>
            <a:r>
              <a:rPr lang="en-US" altLang="zh-TW" i="1" dirty="0">
                <a:solidFill>
                  <a:srgbClr val="0070C0"/>
                </a:solidFill>
              </a:rPr>
              <a:t>Load</a:t>
            </a:r>
            <a:br>
              <a:rPr lang="en-US" altLang="zh-TW" dirty="0"/>
            </a:br>
            <a:r>
              <a:rPr lang="en-US" altLang="zh-TW" dirty="0"/>
              <a:t>(</a:t>
            </a:r>
            <a:r>
              <a:rPr lang="zh-TW" altLang="en-US" dirty="0"/>
              <a:t>編譯過了再燒錄執行</a:t>
            </a:r>
            <a:r>
              <a:rPr lang="en-US" altLang="zh-TW" dirty="0"/>
              <a:t>)</a:t>
            </a:r>
            <a:r>
              <a:rPr lang="zh-TW" altLang="en-US" dirty="0"/>
              <a:t>  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C7713DC-96A9-D08A-E46C-CD597A598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889" y="914400"/>
            <a:ext cx="7049111" cy="538780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B8CC58D-50CA-6694-2FFE-13E9F62A4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89" y="3034010"/>
            <a:ext cx="455926" cy="495574"/>
          </a:xfrm>
          <a:prstGeom prst="rect">
            <a:avLst/>
          </a:prstGeom>
        </p:spPr>
      </p:pic>
      <p:sp>
        <p:nvSpPr>
          <p:cNvPr id="10" name="框架 9">
            <a:extLst>
              <a:ext uri="{FF2B5EF4-FFF2-40B4-BE49-F238E27FC236}">
                <a16:creationId xmlns:a16="http://schemas.microsoft.com/office/drawing/2014/main" id="{03D43C5F-48CC-5799-5877-0EFA48820FD4}"/>
              </a:ext>
            </a:extLst>
          </p:cNvPr>
          <p:cNvSpPr/>
          <p:nvPr/>
        </p:nvSpPr>
        <p:spPr>
          <a:xfrm>
            <a:off x="5643716" y="1396181"/>
            <a:ext cx="334297" cy="245806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" name="框架 11">
            <a:extLst>
              <a:ext uri="{FF2B5EF4-FFF2-40B4-BE49-F238E27FC236}">
                <a16:creationId xmlns:a16="http://schemas.microsoft.com/office/drawing/2014/main" id="{B4F8DA8B-0FFB-F551-C6BE-A7F988506833}"/>
              </a:ext>
            </a:extLst>
          </p:cNvPr>
          <p:cNvSpPr/>
          <p:nvPr/>
        </p:nvSpPr>
        <p:spPr>
          <a:xfrm>
            <a:off x="6598062" y="1396181"/>
            <a:ext cx="334297" cy="245806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6A9C70D9-85DE-76D9-8415-61667875B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394" y="4250367"/>
            <a:ext cx="542115" cy="40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814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9612F1-03B4-E962-F8B3-01EAFB43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選擇編譯器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79AAC2-456D-C8D5-A056-BE8F574E6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21502"/>
            <a:ext cx="4476893" cy="43637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TW" altLang="en-US" b="1" dirty="0"/>
              <a:t>使用 </a:t>
            </a:r>
            <a:r>
              <a:rPr lang="en-US" altLang="zh-TW" b="1" dirty="0"/>
              <a:t>ARM Compiler 5 : </a:t>
            </a:r>
          </a:p>
          <a:p>
            <a:r>
              <a:rPr lang="zh-TW" altLang="en-US" dirty="0"/>
              <a:t>上面工具欄點擊 </a:t>
            </a:r>
            <a:r>
              <a:rPr lang="en-US" altLang="zh-TW" i="1" dirty="0">
                <a:solidFill>
                  <a:srgbClr val="0070C0"/>
                </a:solidFill>
              </a:rPr>
              <a:t>Options for Target…</a:t>
            </a:r>
          </a:p>
          <a:p>
            <a:r>
              <a:rPr lang="zh-TW" altLang="en-US" dirty="0"/>
              <a:t>上面欄位點擊 </a:t>
            </a:r>
            <a:r>
              <a:rPr lang="en-US" altLang="zh-TW" i="1" dirty="0">
                <a:solidFill>
                  <a:srgbClr val="0070C0"/>
                </a:solidFill>
              </a:rPr>
              <a:t>Target</a:t>
            </a:r>
          </a:p>
          <a:p>
            <a:r>
              <a:rPr lang="zh-TW" altLang="en-US" dirty="0"/>
              <a:t>舊專案預設指定使用</a:t>
            </a:r>
            <a:r>
              <a:rPr lang="en-US" altLang="zh-TW" dirty="0"/>
              <a:t>Compiler version 5</a:t>
            </a:r>
            <a:r>
              <a:rPr lang="zh-TW" altLang="en-US" dirty="0"/>
              <a:t>，</a:t>
            </a:r>
            <a:r>
              <a:rPr lang="zh-TW" altLang="en-US" dirty="0">
                <a:solidFill>
                  <a:schemeClr val="bg1">
                    <a:lumMod val="50000"/>
                  </a:schemeClr>
                </a:solidFill>
              </a:rPr>
              <a:t>若要使用 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version 6</a:t>
            </a:r>
            <a:r>
              <a:rPr lang="zh-TW" altLang="en-US" dirty="0">
                <a:solidFill>
                  <a:schemeClr val="bg1">
                    <a:lumMod val="50000"/>
                  </a:schemeClr>
                </a:solidFill>
              </a:rPr>
              <a:t> 欄位再選擇 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V6.24</a:t>
            </a:r>
          </a:p>
          <a:p>
            <a:r>
              <a:rPr lang="zh-TW" altLang="en-US" dirty="0"/>
              <a:t>確認編譯器欄位是選擇 </a:t>
            </a:r>
            <a:r>
              <a:rPr lang="en-US" altLang="zh-TW" dirty="0"/>
              <a:t>:</a:t>
            </a:r>
            <a:br>
              <a:rPr lang="en-US" altLang="zh-TW" dirty="0"/>
            </a:br>
            <a:r>
              <a:rPr lang="en-US" altLang="zh-TW" i="1" dirty="0">
                <a:solidFill>
                  <a:srgbClr val="0070C0"/>
                </a:solidFill>
              </a:rPr>
              <a:t>Use default compiler version 5</a:t>
            </a:r>
          </a:p>
          <a:p>
            <a:r>
              <a:rPr lang="zh-TW" altLang="en-US" dirty="0"/>
              <a:t>如果是顯示 </a:t>
            </a:r>
            <a:r>
              <a:rPr lang="en-US" altLang="zh-TW" i="1" dirty="0">
                <a:solidFill>
                  <a:srgbClr val="0070C0"/>
                </a:solidFill>
              </a:rPr>
              <a:t>Missing : </a:t>
            </a:r>
            <a:r>
              <a:rPr lang="zh-TW" altLang="en-US" dirty="0"/>
              <a:t>代表沒有下載或偵測到 </a:t>
            </a:r>
            <a:r>
              <a:rPr lang="en-US" altLang="zh-TW" dirty="0"/>
              <a:t>Compiler v5 </a:t>
            </a:r>
            <a:r>
              <a:rPr lang="zh-TW" altLang="en-US" dirty="0"/>
              <a:t>，</a:t>
            </a:r>
            <a:r>
              <a:rPr lang="zh-TW" altLang="en-US" b="1" dirty="0"/>
              <a:t>參考下一頁</a:t>
            </a:r>
            <a:br>
              <a:rPr lang="en-US" altLang="zh-TW" b="1" dirty="0"/>
            </a:br>
            <a:endParaRPr lang="en-US" altLang="zh-TW" b="1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7822C2F-6E85-4AA7-164E-1C0BC992D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028" y="1727000"/>
            <a:ext cx="6214372" cy="1472301"/>
          </a:xfrm>
          <a:prstGeom prst="rect">
            <a:avLst/>
          </a:prstGeom>
        </p:spPr>
      </p:pic>
      <p:sp>
        <p:nvSpPr>
          <p:cNvPr id="7" name="框架 6">
            <a:extLst>
              <a:ext uri="{FF2B5EF4-FFF2-40B4-BE49-F238E27FC236}">
                <a16:creationId xmlns:a16="http://schemas.microsoft.com/office/drawing/2014/main" id="{7A8B494F-8A10-BE86-7CA4-F40171A78DCD}"/>
              </a:ext>
            </a:extLst>
          </p:cNvPr>
          <p:cNvSpPr/>
          <p:nvPr/>
        </p:nvSpPr>
        <p:spPr>
          <a:xfrm>
            <a:off x="9124336" y="2341937"/>
            <a:ext cx="334297" cy="245806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1398300-F6F6-1B22-FCB9-DE733A77D1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6005"/>
          <a:stretch>
            <a:fillRect/>
          </a:stretch>
        </p:blipFill>
        <p:spPr>
          <a:xfrm>
            <a:off x="5623044" y="3658699"/>
            <a:ext cx="5959356" cy="1954619"/>
          </a:xfrm>
          <a:prstGeom prst="rect">
            <a:avLst/>
          </a:prstGeom>
        </p:spPr>
      </p:pic>
      <p:sp>
        <p:nvSpPr>
          <p:cNvPr id="11" name="框架 10">
            <a:extLst>
              <a:ext uri="{FF2B5EF4-FFF2-40B4-BE49-F238E27FC236}">
                <a16:creationId xmlns:a16="http://schemas.microsoft.com/office/drawing/2014/main" id="{4B6E5CFF-F438-DCCC-6E2D-C1F3ABFCC453}"/>
              </a:ext>
            </a:extLst>
          </p:cNvPr>
          <p:cNvSpPr/>
          <p:nvPr/>
        </p:nvSpPr>
        <p:spPr>
          <a:xfrm>
            <a:off x="6189407" y="3969037"/>
            <a:ext cx="408038" cy="268666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818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2A570BFF-CC03-8A38-34DF-A86DA9494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380" y="1014885"/>
            <a:ext cx="10691265" cy="3739896"/>
          </a:xfrm>
        </p:spPr>
        <p:txBody>
          <a:bodyPr/>
          <a:lstStyle/>
          <a:p>
            <a:pPr marL="0" indent="0">
              <a:buNone/>
            </a:pPr>
            <a:r>
              <a:rPr lang="zh-TW" altLang="en-US" b="1" dirty="0"/>
              <a:t>如果編譯的時候發現沒有偵測到</a:t>
            </a:r>
            <a:endParaRPr lang="en-US" altLang="zh-TW" b="1" dirty="0"/>
          </a:p>
          <a:p>
            <a:pPr marL="0" indent="0">
              <a:buNone/>
            </a:pPr>
            <a:r>
              <a:rPr lang="zh-TW" altLang="en-US" b="1" dirty="0"/>
              <a:t>前面下載的 </a:t>
            </a:r>
            <a:r>
              <a:rPr lang="en-US" altLang="zh-TW" b="1" dirty="0"/>
              <a:t>ARM</a:t>
            </a:r>
            <a:r>
              <a:rPr lang="zh-TW" altLang="en-US" b="1" dirty="0"/>
              <a:t> </a:t>
            </a:r>
            <a:r>
              <a:rPr lang="en-US" altLang="zh-TW" b="1" dirty="0"/>
              <a:t>Compiler v5</a:t>
            </a:r>
            <a:r>
              <a:rPr lang="zh-TW" altLang="en-US" b="1" dirty="0"/>
              <a:t> </a:t>
            </a:r>
            <a:r>
              <a:rPr lang="en-US" altLang="zh-TW" b="1" dirty="0"/>
              <a:t>:</a:t>
            </a:r>
          </a:p>
          <a:p>
            <a:r>
              <a:rPr lang="zh-TW" altLang="en-US" dirty="0"/>
              <a:t>點擊上面工具欄的</a:t>
            </a:r>
            <a:r>
              <a:rPr lang="en-US" altLang="zh-TW" dirty="0"/>
              <a:t> </a:t>
            </a:r>
            <a:r>
              <a:rPr lang="en-US" altLang="zh-TW" i="1" dirty="0">
                <a:solidFill>
                  <a:srgbClr val="0070C0"/>
                </a:solidFill>
              </a:rPr>
              <a:t>Manage Project Items</a:t>
            </a:r>
          </a:p>
          <a:p>
            <a:r>
              <a:rPr lang="zh-TW" altLang="en-US" dirty="0"/>
              <a:t>上面欄位選擇 </a:t>
            </a:r>
            <a:r>
              <a:rPr lang="en-US" altLang="zh-TW" i="1" dirty="0">
                <a:solidFill>
                  <a:srgbClr val="0070C0"/>
                </a:solidFill>
              </a:rPr>
              <a:t>Folders/Extensions</a:t>
            </a:r>
          </a:p>
          <a:p>
            <a:r>
              <a:rPr lang="zh-TW" altLang="en-US" dirty="0"/>
              <a:t>點擊 </a:t>
            </a:r>
            <a:r>
              <a:rPr lang="en-US" altLang="zh-TW" i="1" dirty="0">
                <a:solidFill>
                  <a:srgbClr val="0070C0"/>
                </a:solidFill>
              </a:rPr>
              <a:t>Use ARM Compiler</a:t>
            </a:r>
            <a:r>
              <a:rPr lang="zh-TW" altLang="en-US" i="1" dirty="0">
                <a:solidFill>
                  <a:srgbClr val="0070C0"/>
                </a:solidFill>
              </a:rPr>
              <a:t> </a:t>
            </a:r>
            <a:r>
              <a:rPr lang="zh-TW" altLang="en-US" dirty="0"/>
              <a:t>右邊的 </a:t>
            </a:r>
            <a:r>
              <a:rPr lang="en-US" altLang="zh-TW" i="1" dirty="0">
                <a:solidFill>
                  <a:srgbClr val="0070C0"/>
                </a:solidFill>
              </a:rPr>
              <a:t>…</a:t>
            </a:r>
          </a:p>
          <a:p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095A4C2-5127-9706-CFD9-E52764382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699" y="1224463"/>
            <a:ext cx="6816996" cy="143560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7A54ABF-56B9-C333-B4E8-93B9E92A0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234" y="3275850"/>
            <a:ext cx="6913167" cy="3377020"/>
          </a:xfrm>
          <a:prstGeom prst="rect">
            <a:avLst/>
          </a:prstGeom>
        </p:spPr>
      </p:pic>
      <p:sp>
        <p:nvSpPr>
          <p:cNvPr id="10" name="框架 9">
            <a:extLst>
              <a:ext uri="{FF2B5EF4-FFF2-40B4-BE49-F238E27FC236}">
                <a16:creationId xmlns:a16="http://schemas.microsoft.com/office/drawing/2014/main" id="{DDA5A3BF-DCAE-1B5E-1B01-BF4345EB953C}"/>
              </a:ext>
            </a:extLst>
          </p:cNvPr>
          <p:cNvSpPr/>
          <p:nvPr/>
        </p:nvSpPr>
        <p:spPr>
          <a:xfrm>
            <a:off x="9202771" y="1807934"/>
            <a:ext cx="408038" cy="268666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2" name="框架 11">
            <a:extLst>
              <a:ext uri="{FF2B5EF4-FFF2-40B4-BE49-F238E27FC236}">
                <a16:creationId xmlns:a16="http://schemas.microsoft.com/office/drawing/2014/main" id="{30818B5E-674B-A8B0-6559-452A9AF38436}"/>
              </a:ext>
            </a:extLst>
          </p:cNvPr>
          <p:cNvSpPr/>
          <p:nvPr/>
        </p:nvSpPr>
        <p:spPr>
          <a:xfrm>
            <a:off x="3633244" y="3646918"/>
            <a:ext cx="1125792" cy="280845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4" name="框架 13">
            <a:extLst>
              <a:ext uri="{FF2B5EF4-FFF2-40B4-BE49-F238E27FC236}">
                <a16:creationId xmlns:a16="http://schemas.microsoft.com/office/drawing/2014/main" id="{4983644A-A6A1-096A-B244-D97C3E1B582A}"/>
              </a:ext>
            </a:extLst>
          </p:cNvPr>
          <p:cNvSpPr/>
          <p:nvPr/>
        </p:nvSpPr>
        <p:spPr>
          <a:xfrm>
            <a:off x="8998751" y="6026727"/>
            <a:ext cx="477757" cy="320330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675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2B4D713-682B-AE02-DDC5-5EB04A1D5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00" y="2385252"/>
            <a:ext cx="6257692" cy="4132092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2018C2EB-502F-4B9D-3D0F-601AAABBB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335" y="1224464"/>
            <a:ext cx="10095520" cy="3739896"/>
          </a:xfrm>
        </p:spPr>
        <p:txBody>
          <a:bodyPr/>
          <a:lstStyle/>
          <a:p>
            <a:r>
              <a:rPr lang="zh-TW" altLang="en-US" dirty="0"/>
              <a:t>點擊下面的 </a:t>
            </a:r>
            <a:r>
              <a:rPr lang="en-US" altLang="zh-TW" i="1" dirty="0">
                <a:solidFill>
                  <a:srgbClr val="0070C0"/>
                </a:solidFill>
              </a:rPr>
              <a:t>Add another ARM Compiler to List…</a:t>
            </a:r>
          </a:p>
          <a:p>
            <a:r>
              <a:rPr lang="zh-TW" altLang="en-US" dirty="0"/>
              <a:t>選擇剛剛下載的 </a:t>
            </a:r>
            <a:r>
              <a:rPr lang="en-US" altLang="zh-TW" dirty="0"/>
              <a:t>Compiler v5</a:t>
            </a:r>
            <a:r>
              <a:rPr lang="zh-TW" altLang="en-US" dirty="0"/>
              <a:t> 的資料夾，路徑參考下圖</a:t>
            </a:r>
            <a:endParaRPr lang="en-US" altLang="zh-TW" dirty="0"/>
          </a:p>
        </p:txBody>
      </p:sp>
      <p:sp>
        <p:nvSpPr>
          <p:cNvPr id="8" name="框架 7">
            <a:extLst>
              <a:ext uri="{FF2B5EF4-FFF2-40B4-BE49-F238E27FC236}">
                <a16:creationId xmlns:a16="http://schemas.microsoft.com/office/drawing/2014/main" id="{CA885517-645B-7B48-2F51-86008561D032}"/>
              </a:ext>
            </a:extLst>
          </p:cNvPr>
          <p:cNvSpPr/>
          <p:nvPr/>
        </p:nvSpPr>
        <p:spPr>
          <a:xfrm>
            <a:off x="1731708" y="5567522"/>
            <a:ext cx="3588438" cy="343191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B5EEB1C-EBBB-E3E6-470A-F658495E7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761" y="2385251"/>
            <a:ext cx="4751403" cy="410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21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4F57CE-E045-B6A1-B649-1E5ED1AAE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Compiler V5 </a:t>
            </a:r>
            <a:r>
              <a:rPr lang="zh-TW" altLang="en-US" dirty="0"/>
              <a:t>編譯問題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1B6ECF-48D8-2F5B-03C0-82CFB27CF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6" y="1848363"/>
            <a:ext cx="4335402" cy="4113525"/>
          </a:xfrm>
        </p:spPr>
        <p:txBody>
          <a:bodyPr/>
          <a:lstStyle/>
          <a:p>
            <a:pPr marL="0" indent="0">
              <a:buNone/>
            </a:pPr>
            <a:r>
              <a:rPr lang="zh-TW" altLang="en-US" b="1" dirty="0"/>
              <a:t>如果編譯時出現</a:t>
            </a:r>
            <a:br>
              <a:rPr lang="en-US" altLang="zh-TW" b="1" dirty="0"/>
            </a:br>
            <a:r>
              <a:rPr lang="zh-TW" altLang="zh-TW" b="1" dirty="0">
                <a:solidFill>
                  <a:srgbClr val="FF0000"/>
                </a:solidFill>
              </a:rPr>
              <a:t>#error Unknown compiler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: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br>
              <a:rPr lang="en-US" altLang="zh-TW" dirty="0"/>
            </a:br>
            <a:r>
              <a:rPr lang="zh-TW" altLang="en-US" dirty="0"/>
              <a:t>新版 </a:t>
            </a:r>
            <a:r>
              <a:rPr lang="en-US" altLang="zh-TW" dirty="0"/>
              <a:t>CMSIS</a:t>
            </a:r>
            <a:r>
              <a:rPr lang="zh-TW" altLang="en-US" dirty="0"/>
              <a:t> 與 </a:t>
            </a:r>
            <a:r>
              <a:rPr lang="en-US" altLang="zh-TW" dirty="0"/>
              <a:t>Compiler v5</a:t>
            </a:r>
            <a:r>
              <a:rPr lang="zh-TW" altLang="en-US" dirty="0"/>
              <a:t> 不合</a:t>
            </a:r>
            <a:endParaRPr lang="en-US" altLang="zh-TW" dirty="0"/>
          </a:p>
          <a:p>
            <a:r>
              <a:rPr lang="zh-TW" altLang="en-US" dirty="0"/>
              <a:t>點擊 </a:t>
            </a:r>
            <a:r>
              <a:rPr lang="en-US" altLang="zh-TW" i="1" dirty="0">
                <a:solidFill>
                  <a:srgbClr val="0070C0"/>
                </a:solidFill>
              </a:rPr>
              <a:t>Pack Installer</a:t>
            </a:r>
          </a:p>
          <a:p>
            <a:r>
              <a:rPr lang="zh-TW" altLang="en-US" dirty="0"/>
              <a:t>右邊 </a:t>
            </a:r>
            <a:r>
              <a:rPr lang="en-US" altLang="zh-TW" i="1" dirty="0">
                <a:solidFill>
                  <a:srgbClr val="0070C0"/>
                </a:solidFill>
              </a:rPr>
              <a:t>Packs </a:t>
            </a:r>
            <a:r>
              <a:rPr lang="zh-TW" altLang="en-US" dirty="0"/>
              <a:t>找到 </a:t>
            </a:r>
            <a:r>
              <a:rPr lang="en-US" altLang="zh-TW" i="1" dirty="0">
                <a:solidFill>
                  <a:srgbClr val="0070C0"/>
                </a:solidFill>
              </a:rPr>
              <a:t>ARM::CMSIS</a:t>
            </a:r>
            <a:r>
              <a:rPr lang="zh-TW" altLang="en-US" dirty="0"/>
              <a:t>，</a:t>
            </a:r>
            <a:br>
              <a:rPr lang="en-US" altLang="zh-TW" dirty="0"/>
            </a:br>
            <a:r>
              <a:rPr lang="zh-TW" altLang="en-US" dirty="0"/>
              <a:t>按下</a:t>
            </a:r>
            <a:r>
              <a:rPr lang="en-US" altLang="zh-TW" i="1" dirty="0">
                <a:solidFill>
                  <a:srgbClr val="0070C0"/>
                </a:solidFill>
              </a:rPr>
              <a:t>+</a:t>
            </a:r>
          </a:p>
          <a:p>
            <a:r>
              <a:rPr lang="zh-TW" altLang="en-US" dirty="0"/>
              <a:t>點擊 </a:t>
            </a:r>
            <a:r>
              <a:rPr lang="en-US" altLang="zh-TW" i="1" dirty="0">
                <a:solidFill>
                  <a:srgbClr val="0070C0"/>
                </a:solidFill>
              </a:rPr>
              <a:t>Previous</a:t>
            </a:r>
          </a:p>
          <a:p>
            <a:r>
              <a:rPr lang="zh-TW" altLang="en-US" dirty="0"/>
              <a:t>找到 </a:t>
            </a:r>
            <a:r>
              <a:rPr lang="en-US" altLang="zh-TW" dirty="0"/>
              <a:t>CMSIS</a:t>
            </a:r>
            <a:r>
              <a:rPr lang="zh-TW" altLang="en-US" dirty="0"/>
              <a:t> 比較舊的版本下載</a:t>
            </a:r>
            <a:br>
              <a:rPr lang="en-US" altLang="zh-TW" dirty="0"/>
            </a:br>
            <a:r>
              <a:rPr lang="en-US" altLang="zh-TW" dirty="0"/>
              <a:t>(</a:t>
            </a:r>
            <a:r>
              <a:rPr lang="zh-TW" altLang="en-US" dirty="0"/>
              <a:t>這裡下載的是</a:t>
            </a:r>
            <a:r>
              <a:rPr lang="en-US" altLang="zh-TW" dirty="0"/>
              <a:t>5.9.0)</a:t>
            </a:r>
          </a:p>
          <a:p>
            <a:endParaRPr lang="zh-TW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A062B52-251A-3F61-51B5-2CD5FCBDB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037" y="1568196"/>
            <a:ext cx="6721422" cy="122692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626AA8A-6A2B-975A-0B13-1F3A24DF7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037" y="2993775"/>
            <a:ext cx="6793304" cy="3495515"/>
          </a:xfrm>
          <a:prstGeom prst="rect">
            <a:avLst/>
          </a:prstGeom>
        </p:spPr>
      </p:pic>
      <p:sp>
        <p:nvSpPr>
          <p:cNvPr id="9" name="框架 8">
            <a:extLst>
              <a:ext uri="{FF2B5EF4-FFF2-40B4-BE49-F238E27FC236}">
                <a16:creationId xmlns:a16="http://schemas.microsoft.com/office/drawing/2014/main" id="{7C213460-7093-3BF9-F4F6-BB30FCAAA22B}"/>
              </a:ext>
            </a:extLst>
          </p:cNvPr>
          <p:cNvSpPr/>
          <p:nvPr/>
        </p:nvSpPr>
        <p:spPr>
          <a:xfrm>
            <a:off x="5312264" y="5564957"/>
            <a:ext cx="860322" cy="250153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1" name="框架 10">
            <a:extLst>
              <a:ext uri="{FF2B5EF4-FFF2-40B4-BE49-F238E27FC236}">
                <a16:creationId xmlns:a16="http://schemas.microsoft.com/office/drawing/2014/main" id="{35E6E952-E1D9-F353-C4FA-0E58A738F0FA}"/>
              </a:ext>
            </a:extLst>
          </p:cNvPr>
          <p:cNvSpPr/>
          <p:nvPr/>
        </p:nvSpPr>
        <p:spPr>
          <a:xfrm>
            <a:off x="5410587" y="6239137"/>
            <a:ext cx="860322" cy="250153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3" name="框架 12">
            <a:extLst>
              <a:ext uri="{FF2B5EF4-FFF2-40B4-BE49-F238E27FC236}">
                <a16:creationId xmlns:a16="http://schemas.microsoft.com/office/drawing/2014/main" id="{A0BDE472-E5FA-04B0-B311-A6E51884B86C}"/>
              </a:ext>
            </a:extLst>
          </p:cNvPr>
          <p:cNvSpPr/>
          <p:nvPr/>
        </p:nvSpPr>
        <p:spPr>
          <a:xfrm>
            <a:off x="9363155" y="1848363"/>
            <a:ext cx="331451" cy="275405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559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E2C1BE5-4C71-3783-8CA9-A298B9B93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7380" y="3255101"/>
            <a:ext cx="10691813" cy="2965505"/>
          </a:xfrm>
          <a:prstGeom prst="rect">
            <a:avLst/>
          </a:prstGeom>
        </p:spPr>
      </p:pic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7B398BD0-C172-A1BC-97B4-F0879B82BAF6}"/>
              </a:ext>
            </a:extLst>
          </p:cNvPr>
          <p:cNvSpPr txBox="1">
            <a:spLocks/>
          </p:cNvSpPr>
          <p:nvPr/>
        </p:nvSpPr>
        <p:spPr>
          <a:xfrm>
            <a:off x="504669" y="1251128"/>
            <a:ext cx="10937236" cy="2177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dirty="0"/>
              <a:t>下載完之後，指定專案使用舊版 </a:t>
            </a:r>
            <a:r>
              <a:rPr lang="en-US" altLang="zh-TW" dirty="0"/>
              <a:t>CMSIS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</a:p>
          <a:p>
            <a:r>
              <a:rPr lang="zh-TW" altLang="en-US" dirty="0"/>
              <a:t>點擊 </a:t>
            </a:r>
            <a:r>
              <a:rPr lang="en-US" altLang="zh-TW" i="1" dirty="0">
                <a:solidFill>
                  <a:srgbClr val="0070C0"/>
                </a:solidFill>
              </a:rPr>
              <a:t>Project -&gt; Manage -&gt; Select Software Packs</a:t>
            </a:r>
          </a:p>
          <a:p>
            <a:r>
              <a:rPr lang="zh-TW" altLang="en-US" dirty="0"/>
              <a:t>如果選項是灰色的，點擊 </a:t>
            </a:r>
            <a:r>
              <a:rPr lang="en-US" altLang="zh-TW" i="1" dirty="0">
                <a:solidFill>
                  <a:srgbClr val="0070C0"/>
                </a:solidFill>
              </a:rPr>
              <a:t>Migrate to Version 5 Format</a:t>
            </a:r>
            <a:r>
              <a:rPr lang="zh-TW" altLang="en-US" dirty="0"/>
              <a:t>，把專案轉成新格式</a:t>
            </a:r>
            <a:br>
              <a:rPr lang="en-US" altLang="zh-TW" dirty="0"/>
            </a:br>
            <a:r>
              <a:rPr lang="en-US" altLang="zh-TW" dirty="0"/>
              <a:t>(</a:t>
            </a:r>
            <a:r>
              <a:rPr lang="zh-TW" altLang="en-US" dirty="0"/>
              <a:t>建議備份一個舊版專案，轉成新格式就不能轉回去了</a:t>
            </a:r>
            <a:r>
              <a:rPr lang="en-US" altLang="zh-TW" dirty="0"/>
              <a:t>)</a:t>
            </a:r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1820168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4BEDA9C-C9D1-64D2-1482-B8BE8D323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246" y="1647476"/>
            <a:ext cx="6637595" cy="952583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842801B-EFB8-26B9-D782-1BF5A4DFD777}"/>
              </a:ext>
            </a:extLst>
          </p:cNvPr>
          <p:cNvSpPr txBox="1">
            <a:spLocks/>
          </p:cNvSpPr>
          <p:nvPr/>
        </p:nvSpPr>
        <p:spPr>
          <a:xfrm>
            <a:off x="504669" y="1251128"/>
            <a:ext cx="4283641" cy="25932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 </a:t>
            </a:r>
            <a:r>
              <a:rPr lang="en-US" altLang="zh-TW" i="1" dirty="0">
                <a:solidFill>
                  <a:srgbClr val="0070C0"/>
                </a:solidFill>
              </a:rPr>
              <a:t>Select Software Packs</a:t>
            </a:r>
          </a:p>
          <a:p>
            <a:r>
              <a:rPr lang="zh-TW" altLang="en-US" dirty="0"/>
              <a:t>取消勾選 </a:t>
            </a:r>
            <a:r>
              <a:rPr lang="en-US" altLang="zh-TW" i="1" dirty="0">
                <a:solidFill>
                  <a:srgbClr val="0070C0"/>
                </a:solidFill>
              </a:rPr>
              <a:t>Use latest versions of all installed Software Packs</a:t>
            </a:r>
          </a:p>
          <a:p>
            <a:r>
              <a:rPr lang="en-US" altLang="zh-TW" dirty="0"/>
              <a:t>Selection</a:t>
            </a:r>
            <a:r>
              <a:rPr lang="zh-TW" altLang="en-US" dirty="0"/>
              <a:t> 選擇  </a:t>
            </a:r>
            <a:r>
              <a:rPr lang="en-US" altLang="zh-TW" i="1" dirty="0">
                <a:solidFill>
                  <a:srgbClr val="0070C0"/>
                </a:solidFill>
              </a:rPr>
              <a:t>fixed</a:t>
            </a:r>
          </a:p>
          <a:p>
            <a:r>
              <a:rPr lang="zh-TW" altLang="en-US" dirty="0"/>
              <a:t>打開</a:t>
            </a:r>
            <a:r>
              <a:rPr lang="en-US" altLang="zh-TW" i="1" dirty="0">
                <a:solidFill>
                  <a:srgbClr val="0070C0"/>
                </a:solidFill>
              </a:rPr>
              <a:t>ARM::CMSIS</a:t>
            </a:r>
            <a:r>
              <a:rPr lang="zh-TW" altLang="en-US" i="1" dirty="0">
                <a:solidFill>
                  <a:srgbClr val="0070C0"/>
                </a:solidFill>
              </a:rPr>
              <a:t> </a:t>
            </a:r>
            <a:r>
              <a:rPr lang="en-US" altLang="zh-TW" i="1" dirty="0">
                <a:solidFill>
                  <a:srgbClr val="0070C0"/>
                </a:solidFill>
              </a:rPr>
              <a:t>+</a:t>
            </a:r>
            <a:r>
              <a:rPr lang="zh-TW" altLang="en-US" dirty="0"/>
              <a:t>，打勾剛剛下載好的</a:t>
            </a:r>
            <a:r>
              <a:rPr lang="en-US" altLang="zh-TW" dirty="0"/>
              <a:t>5.9.0</a:t>
            </a:r>
            <a:endParaRPr lang="zh-TW" altLang="zh-TW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04CC164-12F4-BCA5-4635-5A3E366700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773"/>
          <a:stretch>
            <a:fillRect/>
          </a:stretch>
        </p:blipFill>
        <p:spPr>
          <a:xfrm>
            <a:off x="2214780" y="3844362"/>
            <a:ext cx="8192210" cy="2628900"/>
          </a:xfrm>
          <a:prstGeom prst="rect">
            <a:avLst/>
          </a:prstGeom>
        </p:spPr>
      </p:pic>
      <p:sp>
        <p:nvSpPr>
          <p:cNvPr id="13" name="框架 12">
            <a:extLst>
              <a:ext uri="{FF2B5EF4-FFF2-40B4-BE49-F238E27FC236}">
                <a16:creationId xmlns:a16="http://schemas.microsoft.com/office/drawing/2014/main" id="{37812E4C-BE78-0C1B-5A3E-8BC7E5E0C2D1}"/>
              </a:ext>
            </a:extLst>
          </p:cNvPr>
          <p:cNvSpPr/>
          <p:nvPr/>
        </p:nvSpPr>
        <p:spPr>
          <a:xfrm>
            <a:off x="9087851" y="1926957"/>
            <a:ext cx="331451" cy="275405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5" name="框架 14">
            <a:extLst>
              <a:ext uri="{FF2B5EF4-FFF2-40B4-BE49-F238E27FC236}">
                <a16:creationId xmlns:a16="http://schemas.microsoft.com/office/drawing/2014/main" id="{D8B991E1-DCD4-8F62-3E24-212CAF18BB43}"/>
              </a:ext>
            </a:extLst>
          </p:cNvPr>
          <p:cNvSpPr/>
          <p:nvPr/>
        </p:nvSpPr>
        <p:spPr>
          <a:xfrm>
            <a:off x="2195515" y="4167385"/>
            <a:ext cx="331451" cy="275405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7" name="框架 16">
            <a:extLst>
              <a:ext uri="{FF2B5EF4-FFF2-40B4-BE49-F238E27FC236}">
                <a16:creationId xmlns:a16="http://schemas.microsoft.com/office/drawing/2014/main" id="{E8A5999F-F139-8776-C902-356674DF2928}"/>
              </a:ext>
            </a:extLst>
          </p:cNvPr>
          <p:cNvSpPr/>
          <p:nvPr/>
        </p:nvSpPr>
        <p:spPr>
          <a:xfrm>
            <a:off x="4529596" y="5158812"/>
            <a:ext cx="331451" cy="275405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299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0DFB37-AC43-C8B0-997D-B607EAD0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常見燒錄問題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B0964D-92EA-5B76-323D-82FFCFECD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278" y="1804574"/>
            <a:ext cx="4504281" cy="46158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b="1" dirty="0"/>
              <a:t>燒錄 </a:t>
            </a:r>
            <a:r>
              <a:rPr lang="en-US" altLang="zh-TW" b="1" dirty="0"/>
              <a:t>(</a:t>
            </a:r>
            <a:r>
              <a:rPr lang="zh-TW" altLang="en-US" b="1" dirty="0"/>
              <a:t> </a:t>
            </a:r>
            <a:r>
              <a:rPr lang="en-US" altLang="zh-TW" b="1" dirty="0"/>
              <a:t>Load</a:t>
            </a:r>
            <a:r>
              <a:rPr lang="zh-TW" altLang="en-US" b="1" dirty="0"/>
              <a:t> </a:t>
            </a:r>
            <a:r>
              <a:rPr lang="en-US" altLang="zh-TW" b="1" dirty="0"/>
              <a:t>) </a:t>
            </a:r>
            <a:r>
              <a:rPr lang="zh-TW" altLang="en-US" b="1" dirty="0"/>
              <a:t>時 </a:t>
            </a:r>
            <a:r>
              <a:rPr lang="en-US" altLang="zh-TW" b="1" dirty="0"/>
              <a:t>:</a:t>
            </a:r>
          </a:p>
          <a:p>
            <a:pPr marL="0" indent="0">
              <a:buNone/>
            </a:pPr>
            <a:r>
              <a:rPr lang="zh-TW" altLang="en-US" b="1" dirty="0"/>
              <a:t>找不到裝置</a:t>
            </a:r>
            <a:br>
              <a:rPr lang="en-US" altLang="zh-TW" b="1" dirty="0"/>
            </a:br>
            <a:r>
              <a:rPr lang="zh-TW" altLang="en-US" b="1" dirty="0"/>
              <a:t>或無法 </a:t>
            </a:r>
            <a:r>
              <a:rPr lang="en-US" altLang="zh-TW" b="1" dirty="0"/>
              <a:t>Load</a:t>
            </a:r>
            <a:br>
              <a:rPr lang="en-US" altLang="zh-TW" b="1" dirty="0"/>
            </a:br>
            <a:r>
              <a:rPr lang="en-US" altLang="zh-TW" b="1" dirty="0"/>
              <a:t>-&gt; </a:t>
            </a:r>
            <a:r>
              <a:rPr lang="zh-TW" altLang="en-US" b="1" dirty="0"/>
              <a:t>燒錄器選錯</a:t>
            </a:r>
            <a:endParaRPr lang="en-US" altLang="zh-TW" b="1" dirty="0"/>
          </a:p>
          <a:p>
            <a:r>
              <a:rPr lang="zh-TW" altLang="en-US" dirty="0"/>
              <a:t>上面工具欄點擊 </a:t>
            </a:r>
            <a:r>
              <a:rPr lang="en-US" altLang="zh-TW" i="1" dirty="0">
                <a:solidFill>
                  <a:srgbClr val="0070C0"/>
                </a:solidFill>
              </a:rPr>
              <a:t>Options for Target…</a:t>
            </a:r>
            <a:endParaRPr lang="en-US" altLang="zh-TW" dirty="0"/>
          </a:p>
          <a:p>
            <a:r>
              <a:rPr lang="zh-TW" altLang="en-US" dirty="0"/>
              <a:t>點擊 </a:t>
            </a:r>
            <a:r>
              <a:rPr lang="en-US" altLang="zh-TW" i="1" dirty="0">
                <a:solidFill>
                  <a:srgbClr val="0070C0"/>
                </a:solidFill>
              </a:rPr>
              <a:t>Debug</a:t>
            </a:r>
          </a:p>
          <a:p>
            <a:r>
              <a:rPr lang="en-US" altLang="zh-TW" dirty="0"/>
              <a:t>Use </a:t>
            </a:r>
            <a:r>
              <a:rPr lang="zh-TW" altLang="en-US" dirty="0"/>
              <a:t>欄位選擇</a:t>
            </a:r>
            <a:br>
              <a:rPr lang="en-US" altLang="zh-TW" dirty="0"/>
            </a:br>
            <a:r>
              <a:rPr lang="en-US" altLang="zh-TW" i="1" dirty="0" err="1">
                <a:solidFill>
                  <a:srgbClr val="0070C0"/>
                </a:solidFill>
              </a:rPr>
              <a:t>Nuvoton</a:t>
            </a:r>
            <a:r>
              <a:rPr lang="en-US" altLang="zh-TW" i="1" dirty="0">
                <a:solidFill>
                  <a:srgbClr val="0070C0"/>
                </a:solidFill>
              </a:rPr>
              <a:t> Nu-Link Debugger</a:t>
            </a:r>
          </a:p>
          <a:p>
            <a:r>
              <a:rPr lang="zh-TW" altLang="en-US" dirty="0"/>
              <a:t>如果沒有 </a:t>
            </a:r>
            <a:r>
              <a:rPr lang="en-US" altLang="zh-TW" i="1" dirty="0" err="1">
                <a:solidFill>
                  <a:srgbClr val="0070C0"/>
                </a:solidFill>
              </a:rPr>
              <a:t>Nuvoton</a:t>
            </a:r>
            <a:r>
              <a:rPr lang="en-US" altLang="zh-TW" i="1" dirty="0">
                <a:solidFill>
                  <a:srgbClr val="0070C0"/>
                </a:solidFill>
              </a:rPr>
              <a:t> Nu-Link Debugger</a:t>
            </a:r>
            <a:r>
              <a:rPr lang="zh-TW" altLang="en-US" i="1" dirty="0">
                <a:solidFill>
                  <a:srgbClr val="0070C0"/>
                </a:solidFill>
              </a:rPr>
              <a:t> </a:t>
            </a:r>
            <a:r>
              <a:rPr lang="zh-TW" altLang="en-US" dirty="0"/>
              <a:t>這個選項請下載最新 </a:t>
            </a:r>
            <a:r>
              <a:rPr lang="da-DK" altLang="zh-TW" b="1" dirty="0"/>
              <a:t>ICE : NuLink Driver</a:t>
            </a:r>
            <a:r>
              <a:rPr lang="zh-TW" altLang="en-US" b="1" dirty="0"/>
              <a:t> 驅動程式</a:t>
            </a:r>
            <a:endParaRPr lang="en-US" altLang="zh-TW" i="1" dirty="0">
              <a:solidFill>
                <a:srgbClr val="0070C0"/>
              </a:solidFill>
            </a:endParaRPr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AB85D3C-B2E3-3FFD-E4F5-001F7B929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419" y="1832302"/>
            <a:ext cx="2330245" cy="141810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3A94E89-30EF-3457-CC68-3A664530F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559" y="3650712"/>
            <a:ext cx="6424232" cy="258293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60696E2-1D21-EB24-00F7-27F65C01E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6555" y="1804574"/>
            <a:ext cx="5916236" cy="1401667"/>
          </a:xfrm>
          <a:prstGeom prst="rect">
            <a:avLst/>
          </a:prstGeom>
        </p:spPr>
      </p:pic>
      <p:sp>
        <p:nvSpPr>
          <p:cNvPr id="11" name="框架 10">
            <a:extLst>
              <a:ext uri="{FF2B5EF4-FFF2-40B4-BE49-F238E27FC236}">
                <a16:creationId xmlns:a16="http://schemas.microsoft.com/office/drawing/2014/main" id="{EEB9B8E1-B7D7-3812-E200-EC1734E5B013}"/>
              </a:ext>
            </a:extLst>
          </p:cNvPr>
          <p:cNvSpPr/>
          <p:nvPr/>
        </p:nvSpPr>
        <p:spPr>
          <a:xfrm>
            <a:off x="9291483" y="2369258"/>
            <a:ext cx="334297" cy="245806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3" name="框架 12">
            <a:extLst>
              <a:ext uri="{FF2B5EF4-FFF2-40B4-BE49-F238E27FC236}">
                <a16:creationId xmlns:a16="http://schemas.microsoft.com/office/drawing/2014/main" id="{E78C0A91-AF41-2D94-EA56-F01313BB513D}"/>
              </a:ext>
            </a:extLst>
          </p:cNvPr>
          <p:cNvSpPr/>
          <p:nvPr/>
        </p:nvSpPr>
        <p:spPr>
          <a:xfrm>
            <a:off x="9542041" y="3989615"/>
            <a:ext cx="457365" cy="248087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5" name="框架 14">
            <a:extLst>
              <a:ext uri="{FF2B5EF4-FFF2-40B4-BE49-F238E27FC236}">
                <a16:creationId xmlns:a16="http://schemas.microsoft.com/office/drawing/2014/main" id="{4920C9C9-5832-2F39-184A-3C085A92EA8F}"/>
              </a:ext>
            </a:extLst>
          </p:cNvPr>
          <p:cNvSpPr/>
          <p:nvPr/>
        </p:nvSpPr>
        <p:spPr>
          <a:xfrm>
            <a:off x="8917692" y="5819556"/>
            <a:ext cx="1789637" cy="335438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649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F174B2-DBD4-5A0F-63DD-8C5331871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常見燒錄問題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C25E50-BABA-6D50-C236-C093BF619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4864423" cy="3739896"/>
          </a:xfrm>
        </p:spPr>
        <p:txBody>
          <a:bodyPr/>
          <a:lstStyle/>
          <a:p>
            <a:pPr marL="0" indent="0">
              <a:buNone/>
            </a:pPr>
            <a:r>
              <a:rPr lang="zh-TW" altLang="en-US" b="1" dirty="0"/>
              <a:t>如果燒錄時出現提示是否更新韌體 </a:t>
            </a:r>
            <a:r>
              <a:rPr lang="en-US" altLang="zh-TW" b="1" dirty="0"/>
              <a:t>:</a:t>
            </a:r>
            <a:r>
              <a:rPr lang="zh-TW" altLang="en-US" b="1" dirty="0"/>
              <a:t> </a:t>
            </a:r>
            <a:endParaRPr lang="en-US" altLang="zh-TW" b="1" dirty="0"/>
          </a:p>
          <a:p>
            <a:r>
              <a:rPr lang="zh-TW" altLang="en-US" dirty="0"/>
              <a:t>建議選擇 </a:t>
            </a:r>
            <a:r>
              <a:rPr lang="en-US" altLang="zh-TW" b="1" dirty="0">
                <a:solidFill>
                  <a:srgbClr val="FF0000"/>
                </a:solidFill>
              </a:rPr>
              <a:t>NO</a:t>
            </a:r>
          </a:p>
          <a:p>
            <a:r>
              <a:rPr lang="zh-TW" altLang="en-US" dirty="0"/>
              <a:t>更新韌體可能導致燒錄演算法遺失</a:t>
            </a:r>
            <a:br>
              <a:rPr lang="en-US" altLang="zh-TW" dirty="0"/>
            </a:br>
            <a:r>
              <a:rPr lang="zh-TW" altLang="en-US" dirty="0"/>
              <a:t>導致驅動程式需要重新下載</a:t>
            </a:r>
            <a:endParaRPr lang="en-US" altLang="zh-TW" dirty="0"/>
          </a:p>
          <a:p>
            <a:r>
              <a:rPr lang="zh-TW" altLang="en-US" dirty="0"/>
              <a:t>能跑就不需要更新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7DC1795-48DC-1E22-1C7C-7BDB2417B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616" y="1989802"/>
            <a:ext cx="5419725" cy="3429000"/>
          </a:xfrm>
          <a:prstGeom prst="rect">
            <a:avLst/>
          </a:prstGeom>
        </p:spPr>
      </p:pic>
      <p:sp>
        <p:nvSpPr>
          <p:cNvPr id="7" name="框架 6">
            <a:extLst>
              <a:ext uri="{FF2B5EF4-FFF2-40B4-BE49-F238E27FC236}">
                <a16:creationId xmlns:a16="http://schemas.microsoft.com/office/drawing/2014/main" id="{18952F5F-4505-CF53-A1C3-167772762029}"/>
              </a:ext>
            </a:extLst>
          </p:cNvPr>
          <p:cNvSpPr/>
          <p:nvPr/>
        </p:nvSpPr>
        <p:spPr>
          <a:xfrm>
            <a:off x="9502712" y="4805692"/>
            <a:ext cx="1017804" cy="523392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80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A32F4-8F06-5E97-D971-3B9599535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A717F4A6-FCD6-5044-42F3-3A47B1A64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025" y="3282579"/>
            <a:ext cx="6646881" cy="255583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B7DC635-E0D0-1D77-C97C-53E0995F3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844" y="1926671"/>
            <a:ext cx="5509326" cy="120726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2A9BD0B-2DEB-B3C1-549D-9710A0184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900239"/>
          </a:xfrm>
        </p:spPr>
        <p:txBody>
          <a:bodyPr>
            <a:normAutofit/>
          </a:bodyPr>
          <a:lstStyle/>
          <a:p>
            <a:r>
              <a:rPr lang="en-US" altLang="zh-TW" dirty="0"/>
              <a:t>Compiler v6 </a:t>
            </a:r>
            <a:r>
              <a:rPr lang="zh-TW" altLang="en-US" dirty="0"/>
              <a:t>編譯問題 </a:t>
            </a:r>
            <a:r>
              <a:rPr lang="en-US" altLang="zh-TW" sz="2000" dirty="0"/>
              <a:t>:</a:t>
            </a:r>
            <a:r>
              <a:rPr lang="zh-TW" altLang="en-US" sz="2000" dirty="0"/>
              <a:t> 使用</a:t>
            </a:r>
            <a:r>
              <a:rPr lang="en-US" altLang="zh-TW" sz="2000" dirty="0"/>
              <a:t>v6</a:t>
            </a:r>
            <a:r>
              <a:rPr lang="zh-TW" altLang="en-US" sz="2000" dirty="0"/>
              <a:t>時的注意事項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00218E-87CE-0E31-6669-11D3C97E4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94" y="1720673"/>
            <a:ext cx="4342929" cy="442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b="1" dirty="0">
                <a:solidFill>
                  <a:srgbClr val="FF0000"/>
                </a:solidFill>
              </a:rPr>
              <a:t>Compiler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v6</a:t>
            </a:r>
            <a:r>
              <a:rPr lang="zh-TW" altLang="en-US" b="1" dirty="0">
                <a:solidFill>
                  <a:srgbClr val="FF0000"/>
                </a:solidFill>
              </a:rPr>
              <a:t> 無法編譯 </a:t>
            </a:r>
            <a:r>
              <a:rPr lang="en-US" altLang="zh-TW" b="1" dirty="0" err="1">
                <a:solidFill>
                  <a:srgbClr val="FF0000"/>
                </a:solidFill>
              </a:rPr>
              <a:t>retarget.c</a:t>
            </a:r>
            <a:r>
              <a:rPr lang="en-US" altLang="zh-TW" b="1" dirty="0">
                <a:solidFill>
                  <a:srgbClr val="FF0000"/>
                </a:solidFill>
              </a:rPr>
              <a:t> 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: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br>
              <a:rPr lang="en-US" altLang="zh-TW" b="1" dirty="0">
                <a:solidFill>
                  <a:srgbClr val="FF0000"/>
                </a:solidFill>
              </a:rPr>
            </a:br>
            <a:r>
              <a:rPr lang="zh-TW" altLang="en-US" b="1" dirty="0"/>
              <a:t>該檔案用於 </a:t>
            </a:r>
            <a:r>
              <a:rPr lang="en-US" altLang="zh-TW" b="1" dirty="0"/>
              <a:t>debug</a:t>
            </a:r>
            <a:r>
              <a:rPr lang="zh-TW" altLang="en-US" b="1" dirty="0"/>
              <a:t> 等重要用途，因此建議使用 </a:t>
            </a:r>
            <a:r>
              <a:rPr lang="en-US" altLang="zh-TW" b="1" dirty="0"/>
              <a:t>Compiler v5</a:t>
            </a:r>
          </a:p>
          <a:p>
            <a:pPr marL="0" indent="0">
              <a:buNone/>
            </a:pPr>
            <a:r>
              <a:rPr lang="zh-TW" altLang="en-US" b="1" dirty="0"/>
              <a:t>若仍要使用 </a:t>
            </a:r>
            <a:r>
              <a:rPr lang="en-US" altLang="zh-TW" b="1" dirty="0"/>
              <a:t>v6 </a:t>
            </a:r>
            <a:r>
              <a:rPr lang="zh-TW" altLang="en-US" b="1" dirty="0"/>
              <a:t>且沒有要使用到該檔案，可以選擇先將該檔案排除 </a:t>
            </a:r>
            <a:r>
              <a:rPr lang="en-US" altLang="zh-TW" b="1" dirty="0"/>
              <a:t>build</a:t>
            </a:r>
            <a:r>
              <a:rPr lang="zh-TW" altLang="en-US" b="1" dirty="0"/>
              <a:t> </a:t>
            </a:r>
            <a:endParaRPr lang="en-US" altLang="zh-TW" b="1" dirty="0"/>
          </a:p>
          <a:p>
            <a:r>
              <a:rPr lang="zh-TW" altLang="en-US" dirty="0"/>
              <a:t>對 </a:t>
            </a:r>
            <a:r>
              <a:rPr lang="en-US" altLang="zh-TW" dirty="0" err="1"/>
              <a:t>retarget.c</a:t>
            </a:r>
            <a:r>
              <a:rPr lang="zh-TW" altLang="en-US" dirty="0"/>
              <a:t> 點擊右鍵</a:t>
            </a:r>
            <a:endParaRPr lang="en-US" altLang="zh-TW" i="1" dirty="0">
              <a:solidFill>
                <a:srgbClr val="0070C0"/>
              </a:solidFill>
            </a:endParaRPr>
          </a:p>
          <a:p>
            <a:r>
              <a:rPr lang="zh-TW" altLang="en-US" dirty="0"/>
              <a:t>選擇 </a:t>
            </a:r>
            <a:r>
              <a:rPr lang="en-US" altLang="zh-TW" i="1" dirty="0">
                <a:solidFill>
                  <a:srgbClr val="0070C0"/>
                </a:solidFill>
              </a:rPr>
              <a:t>Options for File ‘</a:t>
            </a:r>
            <a:r>
              <a:rPr lang="en-US" altLang="zh-TW" i="1" dirty="0" err="1">
                <a:solidFill>
                  <a:srgbClr val="0070C0"/>
                </a:solidFill>
              </a:rPr>
              <a:t>retarget.c</a:t>
            </a:r>
            <a:r>
              <a:rPr lang="en-US" altLang="zh-TW" i="1" dirty="0">
                <a:solidFill>
                  <a:srgbClr val="0070C0"/>
                </a:solidFill>
              </a:rPr>
              <a:t>’</a:t>
            </a:r>
          </a:p>
          <a:p>
            <a:r>
              <a:rPr lang="zh-TW" altLang="en-US" dirty="0"/>
              <a:t>欄位 </a:t>
            </a:r>
            <a:r>
              <a:rPr lang="en-US" altLang="zh-TW" i="1" dirty="0">
                <a:solidFill>
                  <a:srgbClr val="0070C0"/>
                </a:solidFill>
              </a:rPr>
              <a:t>Include in Target Build</a:t>
            </a:r>
            <a:r>
              <a:rPr lang="zh-TW" altLang="en-US" dirty="0"/>
              <a:t> 取消勾選</a:t>
            </a:r>
            <a:endParaRPr lang="en-US" altLang="zh-TW" dirty="0"/>
          </a:p>
        </p:txBody>
      </p:sp>
      <p:sp>
        <p:nvSpPr>
          <p:cNvPr id="11" name="框架 10">
            <a:extLst>
              <a:ext uri="{FF2B5EF4-FFF2-40B4-BE49-F238E27FC236}">
                <a16:creationId xmlns:a16="http://schemas.microsoft.com/office/drawing/2014/main" id="{BE64253E-5ACD-8A35-067B-443A57BD9A93}"/>
              </a:ext>
            </a:extLst>
          </p:cNvPr>
          <p:cNvSpPr/>
          <p:nvPr/>
        </p:nvSpPr>
        <p:spPr>
          <a:xfrm>
            <a:off x="6198285" y="2173379"/>
            <a:ext cx="794797" cy="250153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5" name="框架 14">
            <a:extLst>
              <a:ext uri="{FF2B5EF4-FFF2-40B4-BE49-F238E27FC236}">
                <a16:creationId xmlns:a16="http://schemas.microsoft.com/office/drawing/2014/main" id="{84CBA5AF-7825-C4B6-ABCC-3085B619EA54}"/>
              </a:ext>
            </a:extLst>
          </p:cNvPr>
          <p:cNvSpPr/>
          <p:nvPr/>
        </p:nvSpPr>
        <p:spPr>
          <a:xfrm>
            <a:off x="9473387" y="4276879"/>
            <a:ext cx="1696058" cy="334450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360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11250FBB-979A-9B60-AC39-A1753ED9D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255" y="3295518"/>
            <a:ext cx="6494096" cy="336823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C0B50F45-17AD-AADC-9CA5-4D9D725E8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900239"/>
          </a:xfrm>
        </p:spPr>
        <p:txBody>
          <a:bodyPr/>
          <a:lstStyle/>
          <a:p>
            <a:r>
              <a:rPr lang="en-US" altLang="zh-TW" dirty="0"/>
              <a:t>Compiler v6 </a:t>
            </a:r>
            <a:r>
              <a:rPr lang="zh-TW" altLang="en-US" dirty="0"/>
              <a:t>編譯問題</a:t>
            </a:r>
            <a:r>
              <a:rPr lang="en-US" altLang="zh-TW" sz="2000" dirty="0"/>
              <a:t>:</a:t>
            </a:r>
            <a:r>
              <a:rPr lang="zh-TW" altLang="en-US" sz="2000" dirty="0"/>
              <a:t> 使用</a:t>
            </a:r>
            <a:r>
              <a:rPr lang="en-US" altLang="zh-TW" sz="2000" dirty="0"/>
              <a:t>v6</a:t>
            </a:r>
            <a:r>
              <a:rPr lang="zh-TW" altLang="en-US" sz="2000" dirty="0"/>
              <a:t>時的注意事項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6781C7-7BCB-11A8-2874-DF3821CA8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098515"/>
            <a:ext cx="4342929" cy="402172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TW" altLang="en-US" b="1" dirty="0"/>
              <a:t>如果標頭檔找不到 </a:t>
            </a:r>
            <a:r>
              <a:rPr lang="en-US" altLang="zh-TW" b="1" dirty="0"/>
              <a:t>:</a:t>
            </a:r>
            <a:r>
              <a:rPr lang="zh-TW" altLang="en-US" b="1" dirty="0"/>
              <a:t> </a:t>
            </a:r>
            <a:endParaRPr lang="en-US" altLang="zh-TW" b="1" dirty="0"/>
          </a:p>
          <a:p>
            <a:r>
              <a:rPr lang="zh-TW" altLang="en-US" dirty="0"/>
              <a:t>上面工具欄點擊 </a:t>
            </a:r>
            <a:r>
              <a:rPr lang="en-US" altLang="zh-TW" i="1" dirty="0">
                <a:solidFill>
                  <a:srgbClr val="0070C0"/>
                </a:solidFill>
              </a:rPr>
              <a:t>Options for Target…</a:t>
            </a:r>
          </a:p>
          <a:p>
            <a:r>
              <a:rPr lang="zh-TW" altLang="en-US" dirty="0"/>
              <a:t>選擇 </a:t>
            </a:r>
            <a:r>
              <a:rPr lang="en-US" altLang="zh-TW" i="1" dirty="0">
                <a:solidFill>
                  <a:srgbClr val="0070C0"/>
                </a:solidFill>
              </a:rPr>
              <a:t>C/C++</a:t>
            </a:r>
          </a:p>
          <a:p>
            <a:r>
              <a:rPr lang="zh-TW" altLang="en-US" dirty="0"/>
              <a:t>找到 </a:t>
            </a:r>
            <a:r>
              <a:rPr lang="en-US" altLang="zh-TW" i="1" dirty="0">
                <a:solidFill>
                  <a:srgbClr val="0070C0"/>
                </a:solidFill>
              </a:rPr>
              <a:t>Include Paths</a:t>
            </a:r>
          </a:p>
          <a:p>
            <a:r>
              <a:rPr lang="zh-TW" altLang="en-US" dirty="0"/>
              <a:t>點擊右邊的</a:t>
            </a:r>
            <a:r>
              <a:rPr lang="en-US" altLang="zh-TW" i="1" dirty="0">
                <a:solidFill>
                  <a:srgbClr val="0070C0"/>
                </a:solidFill>
              </a:rPr>
              <a:t>…</a:t>
            </a:r>
          </a:p>
          <a:p>
            <a:r>
              <a:rPr lang="zh-TW" altLang="en-US" dirty="0"/>
              <a:t>將標頭檔所在資料夾加入</a:t>
            </a:r>
            <a:r>
              <a:rPr lang="en-US" altLang="zh-TW" i="1" dirty="0">
                <a:solidFill>
                  <a:srgbClr val="0070C0"/>
                </a:solidFill>
              </a:rPr>
              <a:t>Include Paths</a:t>
            </a:r>
            <a:br>
              <a:rPr lang="en-US" altLang="zh-TW" i="1" dirty="0">
                <a:solidFill>
                  <a:srgbClr val="0070C0"/>
                </a:solidFill>
              </a:rPr>
            </a:br>
            <a:endParaRPr lang="en-US" altLang="zh-TW" i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zh-TW" altLang="en-US" b="1" dirty="0"/>
              <a:t>使用 </a:t>
            </a:r>
            <a:r>
              <a:rPr lang="en-US" altLang="zh-TW" b="1" dirty="0"/>
              <a:t>Compiler v6 </a:t>
            </a:r>
            <a:r>
              <a:rPr lang="zh-TW" altLang="en-US" b="1" dirty="0"/>
              <a:t>編譯時如果出現大量錯誤訊息，可以確認 </a:t>
            </a:r>
            <a:r>
              <a:rPr lang="en-US" altLang="zh-TW" b="1" i="1" dirty="0">
                <a:solidFill>
                  <a:srgbClr val="0070C0"/>
                </a:solidFill>
              </a:rPr>
              <a:t>Language C</a:t>
            </a:r>
            <a:r>
              <a:rPr lang="zh-TW" altLang="en-US" b="1" i="1" dirty="0">
                <a:solidFill>
                  <a:srgbClr val="0070C0"/>
                </a:solidFill>
              </a:rPr>
              <a:t> </a:t>
            </a:r>
            <a:r>
              <a:rPr lang="zh-TW" altLang="en-US" b="1" dirty="0"/>
              <a:t>欄位是否選擇 </a:t>
            </a:r>
            <a:r>
              <a:rPr lang="en-US" altLang="zh-TW" b="1" i="1" dirty="0">
                <a:solidFill>
                  <a:srgbClr val="0070C0"/>
                </a:solidFill>
              </a:rPr>
              <a:t>c99</a:t>
            </a:r>
          </a:p>
          <a:p>
            <a:pPr marL="0" indent="0">
              <a:buNone/>
            </a:pPr>
            <a:endParaRPr lang="en-US" altLang="zh-TW" dirty="0"/>
          </a:p>
          <a:p>
            <a:endParaRPr lang="en-US" altLang="zh-TW" i="1" dirty="0">
              <a:solidFill>
                <a:srgbClr val="0070C0"/>
              </a:solidFill>
            </a:endParaRPr>
          </a:p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1DC1AB1-89B2-C569-0413-5CEE1AD57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480" y="1628481"/>
            <a:ext cx="5789646" cy="1371675"/>
          </a:xfrm>
          <a:prstGeom prst="rect">
            <a:avLst/>
          </a:prstGeom>
        </p:spPr>
      </p:pic>
      <p:sp>
        <p:nvSpPr>
          <p:cNvPr id="9" name="框架 8">
            <a:extLst>
              <a:ext uri="{FF2B5EF4-FFF2-40B4-BE49-F238E27FC236}">
                <a16:creationId xmlns:a16="http://schemas.microsoft.com/office/drawing/2014/main" id="{D2C838A2-CE86-C678-ADD7-993651A7A628}"/>
              </a:ext>
            </a:extLst>
          </p:cNvPr>
          <p:cNvSpPr/>
          <p:nvPr/>
        </p:nvSpPr>
        <p:spPr>
          <a:xfrm>
            <a:off x="8986682" y="2136587"/>
            <a:ext cx="365590" cy="315668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1" name="框架 10">
            <a:extLst>
              <a:ext uri="{FF2B5EF4-FFF2-40B4-BE49-F238E27FC236}">
                <a16:creationId xmlns:a16="http://schemas.microsoft.com/office/drawing/2014/main" id="{976F8DC4-C0C2-9021-D925-9AD9492D1A9F}"/>
              </a:ext>
            </a:extLst>
          </p:cNvPr>
          <p:cNvSpPr/>
          <p:nvPr/>
        </p:nvSpPr>
        <p:spPr>
          <a:xfrm>
            <a:off x="7734866" y="3631073"/>
            <a:ext cx="860322" cy="250153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5" name="框架 14">
            <a:extLst>
              <a:ext uri="{FF2B5EF4-FFF2-40B4-BE49-F238E27FC236}">
                <a16:creationId xmlns:a16="http://schemas.microsoft.com/office/drawing/2014/main" id="{CF4EC0AD-8B13-EE61-CAB3-7BC095CB79E1}"/>
              </a:ext>
            </a:extLst>
          </p:cNvPr>
          <p:cNvSpPr/>
          <p:nvPr/>
        </p:nvSpPr>
        <p:spPr>
          <a:xfrm>
            <a:off x="11053252" y="6349124"/>
            <a:ext cx="412955" cy="314631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9" name="框架 18">
            <a:extLst>
              <a:ext uri="{FF2B5EF4-FFF2-40B4-BE49-F238E27FC236}">
                <a16:creationId xmlns:a16="http://schemas.microsoft.com/office/drawing/2014/main" id="{D0D188BD-C516-792C-D862-9CF037A69831}"/>
              </a:ext>
            </a:extLst>
          </p:cNvPr>
          <p:cNvSpPr/>
          <p:nvPr/>
        </p:nvSpPr>
        <p:spPr>
          <a:xfrm>
            <a:off x="9352272" y="5061666"/>
            <a:ext cx="2100409" cy="314631"/>
          </a:xfrm>
          <a:prstGeom prst="fram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85805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922</TotalTime>
  <Words>899</Words>
  <Application>Microsoft Office PowerPoint</Application>
  <PresentationFormat>寬螢幕</PresentationFormat>
  <Paragraphs>78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1" baseType="lpstr">
      <vt:lpstr>Arial</vt:lpstr>
      <vt:lpstr>Calisto MT</vt:lpstr>
      <vt:lpstr>Univers Condensed</vt:lpstr>
      <vt:lpstr>Wingdings</vt:lpstr>
      <vt:lpstr>ChronicleVTI</vt:lpstr>
      <vt:lpstr>NUC-140環境建置</vt:lpstr>
      <vt:lpstr>下載ide</vt:lpstr>
      <vt:lpstr>PowerPoint 簡報</vt:lpstr>
      <vt:lpstr>PowerPoint 簡報</vt:lpstr>
      <vt:lpstr>進入IDE</vt:lpstr>
      <vt:lpstr>Ide介面</vt:lpstr>
      <vt:lpstr>選擇編譯器</vt:lpstr>
      <vt:lpstr>PowerPoint 簡報</vt:lpstr>
      <vt:lpstr>PowerPoint 簡報</vt:lpstr>
      <vt:lpstr>Compiler V5 編譯問題</vt:lpstr>
      <vt:lpstr>PowerPoint 簡報</vt:lpstr>
      <vt:lpstr>PowerPoint 簡報</vt:lpstr>
      <vt:lpstr>常見燒錄問題</vt:lpstr>
      <vt:lpstr>常見燒錄問題</vt:lpstr>
      <vt:lpstr>Compiler v6 編譯問題 : 使用v6時的注意事項</vt:lpstr>
      <vt:lpstr>Compiler v6 編譯問題: 使用v6時的注意事項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張靜維</dc:creator>
  <cp:lastModifiedBy>張靜維</cp:lastModifiedBy>
  <cp:revision>16</cp:revision>
  <dcterms:created xsi:type="dcterms:W3CDTF">2026-08-27T08:53:27Z</dcterms:created>
  <dcterms:modified xsi:type="dcterms:W3CDTF">2026-09-12T03:35:12Z</dcterms:modified>
</cp:coreProperties>
</file>